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-914400"/>
            <a:ext cx="7315200" cy="2743200"/>
          </a:xfrm>
          <a:prstGeom prst="parallelogram">
            <a:avLst>
              <a:gd name="adj" fmla="val 40000"/>
            </a:avLst>
          </a:prstGeom>
          <a:solidFill>
            <a:srgbClr val="00D9C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315200" y="5029200"/>
            <a:ext cx="6400800" cy="2743200"/>
          </a:xfrm>
          <a:prstGeom prst="parallelogram">
            <a:avLst>
              <a:gd name="adj" fmla="val 40000"/>
            </a:avLst>
          </a:prstGeom>
          <a:solidFill>
            <a:srgbClr val="1E40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6696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48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6424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6424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6424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0" y="73152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0" y="109728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0000" y="1463040"/>
            <a:ext cx="73152" cy="73152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DDW AI HUB · MANUFACTURING AI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011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Helvetica"/>
                <a:ea typeface="PingFang SC"/>
              </a:rPr>
              <a:t>DDW AI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渡笃微 AI 底座平台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B8C8D8"/>
                </a:solidFill>
                <a:latin typeface="PingFang SC"/>
                <a:ea typeface="PingFang SC"/>
              </a:rPr>
              <a:t>制造型企业 AI 落地解决方案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29200"/>
            <a:ext cx="457200" cy="54864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D9C8"/>
                </a:solidFill>
                <a:latin typeface="PingFang SC"/>
                <a:ea typeface="PingFang SC"/>
              </a:rPr>
              <a:t>破孤岛  ·  连现有系统  ·  插件化扩展  ·  离线可兜底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400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面向制造业 SME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66420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6420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制造企业 AI 落地五大痛点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385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Why now?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53288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3288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DDW AI Hub 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072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40156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0156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0156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6 层平台架构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6758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427024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7024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27024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核心能力一 · DataConnector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44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数据连接器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2920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13892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3892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核心能力二 · 混合 LLM 网关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4132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云端 + 降级 + 离线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55448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166420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66420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66420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核心能力三 · 统一 IM 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19385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钉钉 / 飞书 / 企微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42316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37960" y="253288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53288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53288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核心能力四 · 嵌入式本地 LLM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8072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断网可兜底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29184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37960" y="340156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40156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40156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5 大制造应用场景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6758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Scenarios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416052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37960" y="427024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27024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27024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部署方案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5445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ECS + Docker Compose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029200"/>
            <a:ext cx="5303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37960" y="5138928"/>
            <a:ext cx="594360" cy="50292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138928"/>
            <a:ext cx="594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138928"/>
            <a:ext cx="4297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B2D"/>
                </a:solidFill>
                <a:latin typeface="PingFang SC"/>
                <a:ea typeface="PingFang SC"/>
              </a:rPr>
              <a:t>联系合作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4132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Helvetica"/>
                <a:ea typeface="PingFang SC"/>
              </a:rPr>
              <a:t>Contact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制造企业 AI 落地五大痛点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Why most AI projects fail before delivering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1488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14884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信息孤岛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783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B2D"/>
                </a:solidFill>
                <a:latin typeface="PingFang SC"/>
                <a:ea typeface="PingFang SC"/>
              </a:rPr>
              <a:t>ERP / MES / WMS / 钉钉 / Excel 数据互不相通，AI 无数据可学</a:t>
            </a:r>
          </a:p>
        </p:txBody>
      </p:sp>
      <p:sp>
        <p:nvSpPr>
          <p:cNvPr id="12" name="Oval 11"/>
          <p:cNvSpPr/>
          <p:nvPr/>
        </p:nvSpPr>
        <p:spPr>
          <a:xfrm>
            <a:off x="1394460" y="50292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446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  <a:ea typeface="PingFang SC"/>
              </a:rPr>
              <a:t>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2072" y="1463040"/>
            <a:ext cx="21488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62072" y="1463040"/>
            <a:ext cx="21488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1600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"/>
                <a:ea typeface="PingFang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2103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AI 门槛高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2834640"/>
            <a:ext cx="1783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B2D"/>
                </a:solidFill>
                <a:latin typeface="PingFang SC"/>
                <a:ea typeface="PingFang SC"/>
              </a:rPr>
              <a:t>买来模型不会调、不会接、不会落到车间，业务团队用不上</a:t>
            </a:r>
          </a:p>
        </p:txBody>
      </p:sp>
      <p:sp>
        <p:nvSpPr>
          <p:cNvPr id="19" name="Oval 18"/>
          <p:cNvSpPr/>
          <p:nvPr/>
        </p:nvSpPr>
        <p:spPr>
          <a:xfrm>
            <a:off x="3707892" y="5029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7892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  <a:ea typeface="PingFang SC"/>
              </a:rPr>
              <a:t>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75504" y="1463040"/>
            <a:ext cx="21488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75504" y="1463040"/>
            <a:ext cx="21488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75504" y="1600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"/>
                <a:ea typeface="PingFang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103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员工用不起来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2834640"/>
            <a:ext cx="1783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B2D"/>
                </a:solidFill>
                <a:latin typeface="PingFang SC"/>
                <a:ea typeface="PingFang SC"/>
              </a:rPr>
              <a:t>新工具带来新负担，工厂员工不会主动打开第二个 App</a:t>
            </a:r>
          </a:p>
        </p:txBody>
      </p:sp>
      <p:sp>
        <p:nvSpPr>
          <p:cNvPr id="26" name="Oval 25"/>
          <p:cNvSpPr/>
          <p:nvPr/>
        </p:nvSpPr>
        <p:spPr>
          <a:xfrm>
            <a:off x="6021324" y="50292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1324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  <a:ea typeface="PingFang SC"/>
              </a:rPr>
              <a:t>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88936" y="1463040"/>
            <a:ext cx="21488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88936" y="1463040"/>
            <a:ext cx="214884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8936" y="1600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"/>
                <a:ea typeface="PingFang SC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2103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数据安全顾虑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1816" y="2834640"/>
            <a:ext cx="1783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B2D"/>
                </a:solidFill>
                <a:latin typeface="PingFang SC"/>
                <a:ea typeface="PingFang SC"/>
              </a:rPr>
              <a:t>生产数据 / 工艺参数上传公有云，老板不敢拍板</a:t>
            </a:r>
          </a:p>
        </p:txBody>
      </p:sp>
      <p:sp>
        <p:nvSpPr>
          <p:cNvPr id="33" name="Oval 32"/>
          <p:cNvSpPr/>
          <p:nvPr/>
        </p:nvSpPr>
        <p:spPr>
          <a:xfrm>
            <a:off x="8334756" y="50292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4756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  <a:ea typeface="PingFang SC"/>
              </a:rPr>
              <a:t>!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02368" y="1463040"/>
            <a:ext cx="214884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02368" y="1463040"/>
            <a:ext cx="214884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1600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"/>
                <a:ea typeface="PingFang SC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2103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项目易烂尾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2834640"/>
            <a:ext cx="1783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F1B2D"/>
                </a:solidFill>
                <a:latin typeface="PingFang SC"/>
                <a:ea typeface="PingFang SC"/>
              </a:rPr>
              <a:t>POC 热闹一阵，3 个月后无人维护、无法迭代、变成沉没成本</a:t>
            </a:r>
          </a:p>
        </p:txBody>
      </p:sp>
      <p:sp>
        <p:nvSpPr>
          <p:cNvPr id="40" name="Oval 39"/>
          <p:cNvSpPr/>
          <p:nvPr/>
        </p:nvSpPr>
        <p:spPr>
          <a:xfrm>
            <a:off x="10648188" y="50292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48188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  <a:ea typeface="PingFang SC"/>
              </a:rPr>
              <a:t>!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D9C8"/>
                </a:solidFill>
                <a:latin typeface="PingFang SC"/>
                <a:ea typeface="PingFang SC"/>
              </a:rPr>
              <a:t>  ▶  不是企业不需要 AI，而是缺一个能落地、能用久、能管住的 AI 底座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DDW AI Hub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AI 底座平台 · 不是又一个 ChatGPT 套壳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一句话定义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1B2D"/>
                </a:solidFill>
                <a:latin typeface="PingFang SC"/>
                <a:ea typeface="PingFang SC"/>
              </a:rPr>
              <a:t>DDW AI Hub 是面向中小制造企业的 AI 底座平台。</a:t>
            </a:r>
          </a:p>
          <a:p>
            <a:pPr algn="l"/>
            <a:r>
              <a:rPr sz="1600" b="1">
                <a:solidFill>
                  <a:srgbClr val="1E406B"/>
                </a:solidFill>
                <a:latin typeface="PingFang SC"/>
                <a:ea typeface="PingFang SC"/>
              </a:rPr>
              <a:t>破信息孤岛、连接现有系统、插件化扩展、本地可兜底。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DDW AI Hub ≠ 一个聊天机器人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62179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4B8A6"/>
                </a:solidFill>
                <a:latin typeface="Helvetica"/>
              </a:rPr>
              <a:t>● </a:t>
            </a:r>
            <a:r>
              <a:rPr sz="1300">
                <a:solidFill>
                  <a:srgbClr val="0F1B2D"/>
                </a:solidFill>
                <a:latin typeface="PingFang SC"/>
                <a:ea typeface="PingFang SC"/>
              </a:rPr>
              <a:t>不是替代 ERP / MES / WMS，而是把它们的数据和 API 接到 AI 上来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B8A6"/>
                </a:solidFill>
                <a:latin typeface="Helvetica"/>
              </a:rPr>
              <a:t>● </a:t>
            </a:r>
            <a:r>
              <a:rPr sz="1300">
                <a:solidFill>
                  <a:srgbClr val="0F1B2D"/>
                </a:solidFill>
                <a:latin typeface="PingFang SC"/>
                <a:ea typeface="PingFang SC"/>
              </a:rPr>
              <a:t>不是要求员工学新工具，而是把 AI 装进员工已有的钉钉 / 飞书 / 企微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B8A6"/>
                </a:solidFill>
                <a:latin typeface="Helvetica"/>
              </a:rPr>
              <a:t>● </a:t>
            </a:r>
            <a:r>
              <a:rPr sz="1300">
                <a:solidFill>
                  <a:srgbClr val="0F1B2D"/>
                </a:solidFill>
                <a:latin typeface="PingFang SC"/>
                <a:ea typeface="PingFang SC"/>
              </a:rPr>
              <a:t>不是只能跑云端大模型，而是云 + 本地混合，断网也能用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B8A6"/>
                </a:solidFill>
                <a:latin typeface="Helvetica"/>
              </a:rPr>
              <a:t>● </a:t>
            </a:r>
            <a:r>
              <a:rPr sz="1300">
                <a:solidFill>
                  <a:srgbClr val="0F1B2D"/>
                </a:solidFill>
                <a:latin typeface="PingFang SC"/>
                <a:ea typeface="PingFang SC"/>
              </a:rPr>
              <a:t>不是一次性项目，而是一个可持续生长的插件化平台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平台四要素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2024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920240"/>
            <a:ext cx="109728" cy="7315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20" y="2084832"/>
            <a:ext cx="411480" cy="411480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08483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  <a:ea typeface="PingFang S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1168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0428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对接 ERP / MES / WMS / 钉钉 / 飞书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78892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788920"/>
            <a:ext cx="109728" cy="7315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0" y="295351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9535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  <a:ea typeface="PingFang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8036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17296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IM 入口 · 员工零学习成本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65760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3657600"/>
            <a:ext cx="109728" cy="73152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0" y="3822192"/>
            <a:ext cx="411480" cy="411480"/>
          </a:xfrm>
          <a:prstGeom prst="ellipse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8221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  <a:ea typeface="PingFang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7490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智能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4164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混合 LLM 网关 · 云端 + 离线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452628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4526280"/>
            <a:ext cx="109728" cy="73152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89520" y="4690872"/>
            <a:ext cx="411480" cy="411480"/>
          </a:xfrm>
          <a:prstGeom prst="ellipse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6908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  <a:ea typeface="PingFang SC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61772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扩展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91032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插件市场 · 业务场景按需生长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6 层平台架构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纯软件分层 · 不绑定任何硬件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55448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00D9C8"/>
          </a:solidFill>
          <a:ln w="9525">
            <a:solidFill>
              <a:srgbClr val="0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6002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L1  接入层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钉钉 / 飞书 / 企微 / H5 Web · 统一会话协议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72600" y="2272284"/>
            <a:ext cx="274320" cy="109728"/>
          </a:xfrm>
          <a:prstGeom prst="downArrow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37744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 w="95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L2  网关层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432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鉴权 · 限流 · 审计 · 路由 · 多租户隔离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72600" y="3095244"/>
            <a:ext cx="274320" cy="109728"/>
          </a:xfrm>
          <a:prstGeom prst="downArrow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320040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1E406B"/>
          </a:solidFill>
          <a:ln w="9525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2461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L3  核心引擎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5661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会话管理 · 插件调度 · 工作流编排 · 记忆系统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72600" y="3918204"/>
            <a:ext cx="274320" cy="109728"/>
          </a:xfrm>
          <a:prstGeom prst="downArrow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286000" y="402336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0690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L4  LLM 网关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389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MiniMax M3 · DeepSeek V4 Pro · Ollama 本地模型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372600" y="4741164"/>
            <a:ext cx="274320" cy="109728"/>
          </a:xfrm>
          <a:prstGeom prst="downArrow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86000" y="484632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DB2777"/>
          </a:solidFill>
          <a:ln w="9525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48920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L5  插件层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2120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DataConnector · 业务插件 · 工具调用 · Prompt 模板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372600" y="5564124"/>
            <a:ext cx="274320" cy="109728"/>
          </a:xfrm>
          <a:prstGeom prst="downArrow">
            <a:avLst/>
          </a:prstGeom>
          <a:solidFill>
            <a:srgbClr val="5A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86000" y="5669280"/>
            <a:ext cx="7589520" cy="713232"/>
          </a:xfrm>
          <a:prstGeom prst="roundRect">
            <a:avLst>
              <a:gd name="adj" fmla="val 8000"/>
            </a:avLst>
          </a:prstGeom>
          <a:solidFill>
            <a:srgbClr val="142E4A"/>
          </a:solidFill>
          <a:ln w="9525">
            <a:solidFill>
              <a:srgbClr val="14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7150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  <a:ea typeface="PingFang SC"/>
              </a:rPr>
              <a:t>L6  数据抽象层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60350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PingFang SC"/>
                <a:ea typeface="PingFang SC"/>
              </a:rPr>
              <a:t>PostgreSQL · 向量库 · 文件存储 · 业务系统适配器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554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面向用户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面向系统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234440" y="2011680"/>
            <a:ext cx="274320" cy="32004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1554480"/>
            <a:ext cx="1463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部署在一台 ECS</a:t>
            </a:r>
          </a:p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或自有服务器</a:t>
            </a:r>
          </a:p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即可全栈跑通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0" y="3200400"/>
            <a:ext cx="1097280" cy="228600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0" y="329184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9C8"/>
                </a:solidFill>
                <a:latin typeface="Helvetica"/>
                <a:ea typeface="PingFang SC"/>
              </a:rPr>
              <a:t>Docker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36576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9C8"/>
                </a:solidFill>
                <a:latin typeface="Helvetica"/>
                <a:ea typeface="PingFang SC"/>
              </a:rPr>
              <a:t>+ 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114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9C8"/>
                </a:solidFill>
                <a:latin typeface="Helvetica"/>
                <a:ea typeface="PingFang SC"/>
              </a:rPr>
              <a:t>+ Caddy 反代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572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9C8"/>
                </a:solidFill>
                <a:latin typeface="Helvetica"/>
                <a:ea typeface="PingFang SC"/>
              </a:rPr>
              <a:t>+ 本地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029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8D8"/>
                </a:solidFill>
                <a:latin typeface="PingFang SC"/>
                <a:ea typeface="PingFang SC"/>
              </a:rPr>
              <a:t>一键拉起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核心能力一 · DataConnector 数据连接器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不替换现有系统 · 只把它们接到 AI 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  ★  企业不需要推翻 ERP / MES / WMS，AI 只需要「读懂」它们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3611880" cy="64008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SQL 直连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8D8"/>
                </a:solidFill>
                <a:latin typeface="Helvetica"/>
                <a:ea typeface="PingFang SC"/>
              </a:rPr>
              <a:t>只读视图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063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0D9C8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MySQL / PostgreSQL / SQL Server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D9C8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Oracle / 达梦 / 人大金仓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D9C8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配置一次 · 自动同步表结构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0D9C8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权限最小化 · 仅 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3317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31720"/>
            <a:ext cx="361188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API 桥接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71576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8D8"/>
                </a:solidFill>
                <a:latin typeface="Helvetica"/>
                <a:ea typeface="PingFang SC"/>
              </a:rPr>
              <a:t>REST / Webhook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200400"/>
            <a:ext cx="3063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4B8A6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钉钉 / 飞书 / 企微 OpenAPI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B8A6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MES / WMS 厂商开放接口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B8A6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OAuth2 / API Key 两种鉴权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4B8A6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调用频率 / 返回字段可配置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33172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331720"/>
            <a:ext cx="3611880" cy="64008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4048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  <a:ea typeface="PingFang SC"/>
              </a:rPr>
              <a:t>文件导入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71576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8C8D8"/>
                </a:solidFill>
                <a:latin typeface="Helvetica"/>
                <a:ea typeface="PingFang SC"/>
              </a:rPr>
              <a:t>离线兜底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200400"/>
            <a:ext cx="3063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E406B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Excel / CSV 手工表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E406B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PDF / Word 工艺文档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E406B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扫描件 OCR 抽取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E406B"/>
                </a:solidFill>
                <a:latin typeface="Helvetica"/>
              </a:rPr>
              <a:t>● </a:t>
            </a:r>
            <a:r>
              <a:rPr sz="1200">
                <a:solidFill>
                  <a:srgbClr val="0F1B2D"/>
                </a:solidFill>
                <a:latin typeface="PingFang SC"/>
                <a:ea typeface="PingFang SC"/>
              </a:rPr>
              <a:t>定时上传 / 增量同步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✓ 零侵入   ✓ 业务系统零改造   ✓ 数据可追溯可审计   ✓ 权限最小化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核心能力二 · 混合 LLM 网关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云端旗舰 · 国内降级 · 离线兜底 · 永远有得用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8104" y="1554480"/>
            <a:ext cx="5943600" cy="1234440"/>
          </a:xfrm>
          <a:prstGeom prst="roundRect">
            <a:avLst>
              <a:gd name="adj" fmla="val 8000"/>
            </a:avLst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18104" y="1554480"/>
            <a:ext cx="1645920" cy="123444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55448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①  云端旗舰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46904" y="16642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MiniMax 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6904" y="20574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8D8"/>
                </a:solidFill>
                <a:latin typeface="PingFang SC"/>
                <a:ea typeface="PingFang SC"/>
              </a:rPr>
              <a:t>默认 · 用于复杂推理、长上下文、多模态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6904" y="23957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9C8"/>
                </a:solidFill>
                <a:latin typeface="PingFang SC"/>
                <a:ea typeface="PingFang SC"/>
              </a:rPr>
              <a:t>高质量 · 高成本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12967" y="2807208"/>
            <a:ext cx="365760" cy="201168"/>
          </a:xfrm>
          <a:prstGeom prst="downArrow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03704" y="3017520"/>
            <a:ext cx="7772400" cy="12344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03704" y="3017520"/>
            <a:ext cx="1645920" cy="123444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3704" y="301752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②  国内降级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504" y="312724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DeepSeek V4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352044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8D8"/>
                </a:solidFill>
                <a:latin typeface="PingFang SC"/>
                <a:ea typeface="PingFang SC"/>
              </a:rPr>
              <a:t>云端不可用时自动切换 · 国产合规 · 价格友好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385876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9C8"/>
                </a:solidFill>
                <a:latin typeface="PingFang SC"/>
                <a:ea typeface="PingFang SC"/>
              </a:rPr>
              <a:t>中质量 · 中成本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12967" y="4270248"/>
            <a:ext cx="365760" cy="201168"/>
          </a:xfrm>
          <a:prstGeom prst="downArrow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89304" y="448056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89304" y="4480560"/>
            <a:ext cx="1645920" cy="123444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9304" y="4480560"/>
            <a:ext cx="16459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③  离线兜底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8104" y="459028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Ollama ds-coder-v2:16B-lite-instruct-q4_K_M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18104" y="49834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8D8"/>
                </a:solidFill>
                <a:latin typeface="PingFang SC"/>
                <a:ea typeface="PingFang SC"/>
              </a:rPr>
              <a:t>随平台嵌入式部署 · 断网可用 · 守护平台自身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8104" y="5321808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9C8"/>
                </a:solidFill>
                <a:latin typeface="PingFang SC"/>
                <a:ea typeface="PingFang SC"/>
              </a:rPr>
              <a:t>可用即可 · 零成本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554480"/>
            <a:ext cx="1920240" cy="416052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737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9C8"/>
                </a:solidFill>
                <a:latin typeface="PingFang SC"/>
                <a:ea typeface="PingFang SC"/>
              </a:rPr>
              <a:t>切换逻辑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240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8C8D8"/>
                </a:solidFill>
                <a:latin typeface="PingFang SC"/>
                <a:ea typeface="PingFang SC"/>
              </a:rPr>
              <a:t>日常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53288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9C8"/>
                </a:solidFill>
                <a:latin typeface="PingFang SC"/>
                <a:ea typeface="PingFang SC"/>
              </a:rPr>
              <a:t>→ 云端 M3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8C8D8"/>
                </a:solidFill>
                <a:latin typeface="PingFang SC"/>
                <a:ea typeface="PingFang SC"/>
              </a:rPr>
              <a:t>云挂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31012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PingFang SC"/>
                <a:ea typeface="PingFang SC"/>
              </a:rPr>
              <a:t>→ DeepSeek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794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8C8D8"/>
                </a:solidFill>
                <a:latin typeface="PingFang SC"/>
                <a:ea typeface="PingFang SC"/>
              </a:rPr>
              <a:t>断网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0873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PingFang SC"/>
                <a:ea typeface="PingFang SC"/>
              </a:rPr>
              <a:t>→ 本地 16B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5720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8C8D8"/>
                </a:solidFill>
                <a:latin typeface="PingFang SC"/>
                <a:ea typeface="PingFang SC"/>
              </a:rPr>
              <a:t>故障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86460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PingFang SC"/>
                <a:ea typeface="PingFang SC"/>
              </a:rPr>
              <a:t>→ 自我修复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★ 网关对上层透明：业务代码只需调一次接口，模型切换零改动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核心能力三 · 统一 IM 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员工零学习成本 · 用最熟的聊天工具就能调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  ★  工厂员工的手机上不需要多装一个 App · AI 就住在钉钉 / 飞书 / 企微里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0180" y="2606040"/>
            <a:ext cx="1005840" cy="1005840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180" y="260604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PingFang SC"/>
                <a:ea typeface="PingFang SC"/>
              </a:rPr>
              <a:t>钉钉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5900" y="4206239"/>
            <a:ext cx="914400" cy="274320"/>
          </a:xfrm>
          <a:prstGeom prst="roundRect">
            <a:avLst>
              <a:gd name="adj" fmla="val 8000"/>
            </a:avLst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5900" y="4206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主入口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国内制造业覆盖率最高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D9C8"/>
                </a:solidFill>
                <a:latin typeface="PingFang SC"/>
                <a:ea typeface="PingFang SC"/>
              </a:rPr>
              <a:t>1293 万家组织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3317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83380" y="2606040"/>
            <a:ext cx="1005840" cy="10058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3380" y="260604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794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PingFang SC"/>
                <a:ea typeface="PingFang SC"/>
              </a:rPr>
              <a:t>飞书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9100" y="4206239"/>
            <a:ext cx="914400" cy="27432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9100" y="4206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协作首选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177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字节系企业 / 文档协同强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29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4B8A6"/>
                </a:solidFill>
                <a:latin typeface="PingFang SC"/>
                <a:ea typeface="PingFang SC"/>
              </a:rPr>
              <a:t>快速增长中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3317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26580" y="260604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6580" y="260604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794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PingFang SC"/>
                <a:ea typeface="PingFang SC"/>
              </a:rPr>
              <a:t>企微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2300" y="4206239"/>
            <a:ext cx="914400" cy="27432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2300" y="4206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微信生态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177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老板 / 客户对话天然兼容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PingFang SC"/>
                <a:ea typeface="PingFang SC"/>
              </a:rPr>
              <a:t>SME 普及率高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23317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69780" y="2606040"/>
            <a:ext cx="1005840" cy="1005840"/>
          </a:xfrm>
          <a:prstGeom prst="ellipse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69780" y="260604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79476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B2D"/>
                </a:solidFill>
                <a:latin typeface="PingFang SC"/>
                <a:ea typeface="PingFang SC"/>
              </a:rPr>
              <a:t>H5 Web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15500" y="4206239"/>
            <a:ext cx="914400" cy="274320"/>
          </a:xfrm>
          <a:prstGeom prst="roundRect">
            <a:avLst>
              <a:gd name="adj" fmla="val 8000"/>
            </a:avLst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15500" y="42062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/>
                <a:ea typeface="PingFang SC"/>
              </a:rPr>
              <a:t>兜底入口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6177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无任何 IM 也能用 · 浏览器即开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50292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E406B"/>
                </a:solidFill>
                <a:latin typeface="PingFang SC"/>
                <a:ea typeface="PingFang SC"/>
              </a:rPr>
              <a:t>支持手机 / 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✓ 一个会话协议 · ✓ 跨 IM 漫游上下文   ✓ 私聊 / 群聊 / 单聊 / 多聊全支持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核心能力四 · 嵌入式本地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断网可兜底 · 守护平台自身的「基础设施级」模型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A1F33"/>
                </a:solidFill>
                <a:latin typeface="PingFang SC"/>
                <a:ea typeface="PingFang SC"/>
              </a:rPr>
              <a:t>本地 16B 模型 · 5 大用途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728" cy="7132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203704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037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0552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离线聊天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断网情况下员工仍能查询内部知识库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25496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25496"/>
            <a:ext cx="109728" cy="7132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97180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9864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自我修复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9125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检测到异常时让模型写脚本自愈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93592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93592"/>
            <a:ext cx="109728" cy="7132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3739896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3989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66674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故障排查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959352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读取日志 + 给出根因 + 推荐处理步骤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61688"/>
            <a:ext cx="109728" cy="7132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4507992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5079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43484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升级管理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72744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辅助评估插件兼容性 / 写升级回滚方案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29784"/>
            <a:ext cx="6675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129784"/>
            <a:ext cx="109728" cy="7132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5276088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27608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  <a:ea typeface="PingFang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20293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B2D"/>
                </a:solidFill>
                <a:latin typeface="PingFang SC"/>
                <a:ea typeface="PingFang SC"/>
              </a:rPr>
              <a:t>插件推荐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49554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A6B80"/>
                </a:solidFill>
                <a:latin typeface="PingFang SC"/>
                <a:ea typeface="PingFang SC"/>
              </a:rPr>
              <a:t>基于业务上下文推荐下一个要装的插件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1554480"/>
            <a:ext cx="4114800" cy="219456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D9C8"/>
                </a:solidFill>
                <a:latin typeface="PingFang SC"/>
                <a:ea typeface="PingFang SC"/>
              </a:rPr>
              <a:t>内置模型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  <a:ea typeface="PingFang SC"/>
              </a:rPr>
              <a:t>Ollama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0D9C8"/>
                </a:solidFill>
                <a:latin typeface="Helvetica"/>
                <a:ea typeface="PingFang SC"/>
              </a:rPr>
              <a:t>ds-coder-v2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2971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8C8D8"/>
                </a:solidFill>
                <a:latin typeface="Helvetica"/>
                <a:ea typeface="PingFang SC"/>
              </a:rPr>
              <a:t>16B · lite-instruct-q4_K_M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3931920"/>
            <a:ext cx="4114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069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部署特性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4348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✓ 随平台 Docker Compose 一起拉起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✓ 单卡消费级 GPU 即可跑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✓ 数据不出企业内网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✓ 与云端模型同 API · 业务无感</a:t>
            </a:r>
          </a:p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✓ 模型版本可独立升级 / 回滚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5 大制造应用场景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从车间到供应链 · 装上即用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240280" cy="77724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673352"/>
            <a:ext cx="457200" cy="457200"/>
          </a:xfrm>
          <a:prstGeom prst="ellipse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73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C8"/>
                </a:solidFill>
                <a:latin typeface="Helvetica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生产运营助手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23160"/>
            <a:ext cx="1911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覆盖场景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97480"/>
            <a:ext cx="1911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产线日报 · 排产答疑 · 工艺参数查询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947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D9C8"/>
                </a:solidFill>
                <a:latin typeface="PingFang SC"/>
                <a:ea typeface="PingFang SC"/>
              </a:rPr>
              <a:t>💬  示例对话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1783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员工问：今天的排产计划？</a:t>
            </a:r>
          </a:p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AI 答：3 号线换模 4 次，预计产出 8200 件…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150876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1508760"/>
            <a:ext cx="224028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673352"/>
            <a:ext cx="457200" cy="457200"/>
          </a:xfrm>
          <a:prstGeom prst="ellipse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1673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C8"/>
                </a:solidFill>
                <a:latin typeface="Helvetica"/>
                <a:ea typeface="PingFang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1737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质量管理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2423160"/>
            <a:ext cx="1911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覆盖场景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3512" y="2697480"/>
            <a:ext cx="1911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来料检验 · 过程异常 · 客诉分析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7947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3886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💬  示例对话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160520"/>
            <a:ext cx="1783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员工上传不良品照片</a:t>
            </a:r>
          </a:p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AI 自动归类 + 追溯到工序 + 推荐改善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150876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0" y="1508760"/>
            <a:ext cx="224028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57800" y="1673352"/>
            <a:ext cx="457200" cy="457200"/>
          </a:xfrm>
          <a:prstGeom prst="ellipse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1673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C8"/>
                </a:solidFill>
                <a:latin typeface="Helvetica"/>
                <a:ea typeface="PingFang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737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设备管理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2423160"/>
            <a:ext cx="1911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覆盖场景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2" y="2697480"/>
            <a:ext cx="1911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点检清单 · 故障处置 · 备件查询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37947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3886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E406B"/>
                </a:solidFill>
                <a:latin typeface="PingFang SC"/>
                <a:ea typeface="PingFang SC"/>
              </a:rPr>
              <a:t>💬  示例对话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160520"/>
            <a:ext cx="1783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扫码报修 → AI 派工单 → 工程师语音描述过程</a:t>
            </a:r>
          </a:p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AI 自动归档故障树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52360" y="150876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1508760"/>
            <a:ext cx="224028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89520" y="1673352"/>
            <a:ext cx="457200" cy="457200"/>
          </a:xfrm>
          <a:prstGeom prst="ellipse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1673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C8"/>
                </a:solidFill>
                <a:latin typeface="Helvetica"/>
                <a:ea typeface="PingFang SC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1737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供应链协同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2" y="2423160"/>
            <a:ext cx="1911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覆盖场景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2" y="2697480"/>
            <a:ext cx="1911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订单跟踪 · 供应商资质 · 价格行情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37947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886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PingFang SC"/>
                <a:ea typeface="PingFang SC"/>
              </a:rPr>
              <a:t>💬  示例对话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160520"/>
            <a:ext cx="1783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老板问：本月订单准交率？</a:t>
            </a:r>
          </a:p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AI 拉数据 + 出图表 + 标红高风险客户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84080" y="1508760"/>
            <a:ext cx="22402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1508760"/>
            <a:ext cx="22402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21240" y="1673352"/>
            <a:ext cx="457200" cy="457200"/>
          </a:xfrm>
          <a:prstGeom prst="ellipse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1673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C8"/>
                </a:solidFill>
                <a:latin typeface="Helvetica"/>
                <a:ea typeface="PingFang SC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1737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ESG 合规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2423160"/>
            <a:ext cx="1911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PingFang SC"/>
                <a:ea typeface="PingFang SC"/>
              </a:rPr>
              <a:t>覆盖场景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8672" y="2697480"/>
            <a:ext cx="191109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1B2D"/>
                </a:solidFill>
                <a:latin typeface="PingFang SC"/>
                <a:ea typeface="PingFang SC"/>
              </a:rPr>
              <a:t>碳排放核算 · 供应商尽调 · 报告撰写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21240" y="37947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12680" y="3886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PingFang SC"/>
                <a:ea typeface="PingFang SC"/>
              </a:rPr>
              <a:t>💬  示例对话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4160520"/>
            <a:ext cx="1783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AI 收集团队 Excel + 自动生成初稿</a:t>
            </a:r>
          </a:p>
          <a:p>
            <a:pPr algn="l"/>
            <a:r>
              <a:rPr sz="1000" b="0">
                <a:solidFill>
                  <a:srgbClr val="0F1B2D"/>
                </a:solidFill>
                <a:latin typeface="PingFang SC"/>
                <a:ea typeface="PingFang SC"/>
              </a:rPr>
              <a:t>法务 / EHS 只需审核签字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B2D"/>
                </a:solidFill>
                <a:latin typeface="PingFang SC"/>
                <a:ea typeface="PingFang SC"/>
              </a:rPr>
              <a:t>部署方案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B80"/>
                </a:solidFill>
                <a:latin typeface="PingFang SC"/>
                <a:ea typeface="PingFang SC"/>
              </a:rPr>
              <a:t>一台 ECS 或自有服务器 · 半天上线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D9C8"/>
                </a:solidFill>
                <a:latin typeface="PingFang SC"/>
                <a:ea typeface="PingFang SC"/>
              </a:rPr>
              <a:t>  ★  部署在企业可控环境 · PostgreSQL + Docker Compose 一键拉起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33"/>
                </a:solidFill>
                <a:latin typeface="PingFang SC"/>
                <a:ea typeface="PingFang SC"/>
              </a:rPr>
              <a:t>环境与组件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73152" cy="274320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操作系统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889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Ubuntu 22.04 LTS / 阿里云 Anolis 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10128"/>
            <a:ext cx="7315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461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应用编排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461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Docker Compose v2 + Caddy 反向代理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7328"/>
            <a:ext cx="73152" cy="27432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03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7033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PostgreSQL 16（主库 + WAL 归档）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24528"/>
            <a:ext cx="73152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1605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本地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1605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Ollama + ds-coder-v2:16B（嵌入式）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81728"/>
            <a:ext cx="73152" cy="27432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617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接入端口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177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443（HTTPS） / 22（运维）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7315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0749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6B80"/>
                </a:solidFill>
                <a:latin typeface="PingFang SC"/>
                <a:ea typeface="PingFang SC"/>
              </a:rPr>
              <a:t>推荐规格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7492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PingFang SC"/>
                <a:ea typeface="PingFang SC"/>
              </a:rPr>
              <a:t>4 vCPU / 16GB RAM / 200GB SSD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A1F33"/>
                </a:solidFill>
                <a:latin typeface="PingFang SC"/>
                <a:ea typeface="PingFang SC"/>
              </a:rPr>
              <a:t>4 步上线流程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78892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2788920"/>
            <a:ext cx="822960" cy="566928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7889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Step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862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PingFang SC"/>
                <a:ea typeface="PingFang SC"/>
              </a:rPr>
              <a:t>环境准备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108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申请 ECS 或准备自有服务器，开放 443 / 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47472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474720"/>
            <a:ext cx="822960" cy="566928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4747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Step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5478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PingFang SC"/>
                <a:ea typeface="PingFang SC"/>
              </a:rPr>
              <a:t>一键部署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794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执行 docker compose up -d · Caddy 自动签发证书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16052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4160520"/>
            <a:ext cx="822960" cy="566928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1605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Step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42336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PingFang SC"/>
                <a:ea typeface="PingFang SC"/>
              </a:rPr>
              <a:t>对接 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480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钉钉 / 飞书 / 企微 后台创建应用，填入回调地址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484632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4846320"/>
            <a:ext cx="822960" cy="566928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8463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919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B2D"/>
                </a:solidFill>
                <a:latin typeface="PingFang SC"/>
                <a:ea typeface="PingFang SC"/>
              </a:rPr>
              <a:t>导入数据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5166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DataConnector 配置 ERP / MES / Excel 数据源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PingFang SC"/>
                <a:ea typeface="PingFang SC"/>
              </a:rPr>
              <a:t>✓ 部署手册  ✓ 视频教程  ✓ 7×12 远程支持  ✓ 季度版本同步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6B80"/>
                </a:solidFill>
                <a:latin typeface="PingFang SC"/>
                <a:ea typeface="PingFang SC"/>
              </a:rPr>
              <a:t>DDW AI Hub · 渡笃微 AI 底座平台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315200" y="-914400"/>
            <a:ext cx="6400800" cy="3657600"/>
          </a:xfrm>
          <a:prstGeom prst="parallelogram">
            <a:avLst>
              <a:gd name="adj" fmla="val 40000"/>
            </a:avLst>
          </a:prstGeom>
          <a:solidFill>
            <a:srgbClr val="00D9C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914400" y="4572000"/>
            <a:ext cx="6400800" cy="2743200"/>
          </a:xfrm>
          <a:prstGeom prst="parallelogram">
            <a:avLst>
              <a:gd name="adj" fmla="val 40000"/>
            </a:avLst>
          </a:prstGeom>
          <a:solidFill>
            <a:srgbClr val="1E406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5720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82296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45720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82296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45720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82296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45720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82296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20240" y="45720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40" y="822960"/>
            <a:ext cx="54864" cy="54864"/>
          </a:xfrm>
          <a:prstGeom prst="ellipse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D9C8"/>
                </a:solidFill>
                <a:latin typeface="Helvetica"/>
                <a:ea typeface="PingFang SC"/>
              </a:rPr>
              <a:t>DDW AI HUB · 渡笃微 AI 底座平台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ingFang SC"/>
                <a:ea typeface="PingFang SC"/>
              </a:rPr>
              <a:t>一个人就是一支团队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8C8D8"/>
                </a:solidFill>
                <a:latin typeface="PingFang SC"/>
                <a:ea typeface="PingFang SC"/>
              </a:rPr>
              <a:t>让 AI 真正落到车间 · 让数据真正流动起来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457200" cy="54864"/>
          </a:xfrm>
          <a:prstGeom prst="rect">
            <a:avLst/>
          </a:prstGeom>
          <a:solidFill>
            <a:srgbClr val="0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2E4A"/>
          </a:solidFill>
          <a:ln w="9525">
            <a:solidFill>
              <a:srgbClr val="0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9C8"/>
                </a:solidFill>
                <a:latin typeface="PingFang SC"/>
                <a:ea typeface="PingFang SC"/>
              </a:rPr>
              <a:t>☎  电话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  <a:ea typeface="PingFang SC"/>
              </a:rPr>
              <a:t>400-XXX-XXXX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周一至周五 9:00-18:00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2976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2E4A"/>
          </a:solidFill>
          <a:ln w="9525">
            <a:solidFill>
              <a:srgbClr val="0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434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9C8"/>
                </a:solidFill>
                <a:latin typeface="PingFang SC"/>
                <a:ea typeface="PingFang SC"/>
              </a:rPr>
              <a:t>✉  邮箱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800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  <a:ea typeface="PingFang SC"/>
              </a:rPr>
              <a:t>contact@ddw-ai.com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212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商务 / 技术 / 售后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29768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2E4A"/>
          </a:solidFill>
          <a:ln w="9525">
            <a:solidFill>
              <a:srgbClr val="0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44348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D9C8"/>
                </a:solidFill>
                <a:latin typeface="PingFang SC"/>
                <a:ea typeface="PingFang SC"/>
              </a:rPr>
              <a:t>🌐  官网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8006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"/>
                <a:ea typeface="PingFang SC"/>
              </a:rPr>
              <a:t>www.ddw-ai.com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212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产品文档 / 在线演示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12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8D8"/>
                </a:solidFill>
                <a:latin typeface="PingFang SC"/>
                <a:ea typeface="PingFang SC"/>
              </a:rPr>
              <a:t>DDW AI Hub · v1.0 · 面向制造业 SME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