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DDW AI Hub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D9488"/>
                </a:solidFill>
                <a:latin typeface="Arial"/>
              </a:defRPr>
            </a:pPr>
            <a:r>
              <a:t>渡笃微 AI 底座平台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CBD5E1"/>
                </a:solidFill>
                <a:latin typeface="Arial"/>
              </a:defRPr>
            </a:pPr>
            <a:r>
              <a:t>制造型企业 AI 落地解决方案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B82F6"/>
                </a:solidFill>
                <a:latin typeface="Arial"/>
              </a:defRPr>
            </a:pPr>
            <a:r>
              <a:t>面向渠道合作伙伴  ·  双模部署  ·  插件化可扩展  ·  离线可用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Arial"/>
              </a:defRPr>
            </a:pPr>
            <a:r>
              <a:t>渡笃微（武汉）科技有限公司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45720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"/>
              </a:defRPr>
            </a:pPr>
            <a:r>
              <a:t>目录 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3716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制造企业AI落地五大挑战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28600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317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DDW AI Hub 平台简介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32004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461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五大核心能力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1148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1605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制造应用场景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502920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074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合作与部署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45720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"/>
              </a:defRPr>
            </a:pPr>
            <a:r>
              <a:t>制造企业AI落地五大挑战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1E293B"/>
                </a:solidFill>
                <a:latin typeface="Arial"/>
              </a:defRPr>
            </a:pPr>
            <a:r>
              <a:t>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信息孤岛严重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34440"/>
            <a:ext cx="6858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ERP/MES/WMS/WCS各自为政，数据不通</a:t>
            </a:r>
            <a:br/>
            <a:r>
              <a:t>系统间靠人工导出导入，效率低、易出错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10515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57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1E293B"/>
                </a:solidFill>
                <a:latin typeface="Arial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AI 门槛高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86000"/>
            <a:ext cx="6858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缺AI团队、缺预算、缺经验</a:t>
            </a:r>
            <a:br/>
            <a:r>
              <a:t>大模型厂方案"高大上"但落不了地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57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1E293B"/>
                </a:solidFill>
                <a:latin typeface="Arial"/>
              </a:defRPr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员工使用意愿低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37560"/>
            <a:ext cx="6858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新系统学习成本高，一线员工抵触</a:t>
            </a:r>
            <a:br/>
            <a:r>
              <a:t>复杂的AI界面无人用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51959"/>
            <a:ext cx="10515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43399"/>
            <a:ext cx="457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1E293B"/>
                </a:solidFill>
                <a:latin typeface="Arial"/>
              </a:defRPr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1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数据安全顾虑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89119"/>
            <a:ext cx="6858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核心生产数据不敢上公网云</a:t>
            </a:r>
            <a:br/>
            <a:r>
              <a:t>私有化部署成本高、运维难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457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1E293B"/>
                </a:solidFill>
                <a:latin typeface="Arial"/>
              </a:defRPr>
            </a:pPr>
            <a:r>
              <a:t>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AI项目容易烂尾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440680"/>
            <a:ext cx="6858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POC 效果惊艳 → 生产环境水土不服</a:t>
            </a:r>
            <a:br/>
            <a:r>
              <a:t>缺乏持续运维，半年后无人问津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45720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"/>
              </a:defRPr>
            </a:pPr>
            <a:r>
              <a:t>DDW AI Hub 平台简介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面向中小制造企业的AI底座平台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DDW AI Hub 不是一个应用，而是一个“地基”—将企业现有的ERP、MES、WMS、OA等系统统一连接到AI能力层，让一线员工通过钉钉/飞书就可以和企业的数据“对话”。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E293B"/>
                </a:solidFill>
                <a:latin typeface="Arial"/>
              </a:defRPr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004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打破信息孤岛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52044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DataConnector 连接</a:t>
            </a:r>
            <a:br/>
            <a:r>
              <a:t>现有业务系统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E293B"/>
                </a:solidFill>
                <a:latin typeface="Arial"/>
              </a:defRPr>
            </a:pPr>
            <a: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3891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插件化可扩展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0916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按需安装业务插件</a:t>
            </a:r>
            <a:br/>
            <a:r>
              <a:t>不修改核心代码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E293B"/>
                </a:solidFill>
                <a:latin typeface="Arial"/>
              </a:defRPr>
            </a:pPr>
            <a: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5778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零学习成本入口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8978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钉钉/飞书/企微</a:t>
            </a:r>
            <a:br/>
            <a:r>
              <a:t>统一AI助手入口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5303520" cy="5303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双模部署 · 一本代码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10312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03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Standalone 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2316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Arial"/>
              </a:defRPr>
            </a:pPr>
            <a:r>
              <a:t>SQLite + Python 3.11</a:t>
            </a:r>
            <a:br/>
            <a:r>
              <a:t>零Docker依赖</a:t>
            </a:r>
            <a:br/>
            <a:r>
              <a:t>家庭/小企业快速验证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47472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474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Cloud 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9476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Arial"/>
              </a:defRPr>
            </a:pPr>
            <a:r>
              <a:t>PostgreSQL + Caddy</a:t>
            </a:r>
            <a:br/>
            <a:r>
              <a:t>Docker Compose</a:t>
            </a:r>
            <a:br/>
            <a:r>
              <a:t>SME 生产环境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84632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48463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嵌入式本地 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16636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Arial"/>
              </a:defRPr>
            </a:pPr>
            <a:r>
              <a:t>可离线运行</a:t>
            </a:r>
            <a:br/>
            <a:r>
              <a:t>自我修复 / 故障排查</a:t>
            </a:r>
            <a:br/>
            <a:r>
              <a:t>私有数据不出厂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纯平台软件架构 · 可部署到任意 Linux/macOS 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不依赖任何特定硬件或云服务商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73152" cy="640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463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接入层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188720"/>
            <a:ext cx="8686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1887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Arial"/>
              </a:defRPr>
            </a:pPr>
            <a:r>
              <a:t>钉钉 · 飞书 · 企微 · H5 / 小程序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38528"/>
            <a:ext cx="731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38528"/>
            <a:ext cx="1463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网关与中间件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938528"/>
            <a:ext cx="8686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938528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Arial"/>
              </a:defRPr>
            </a:pPr>
            <a:r>
              <a:t>API版本化 · JWT认证 · 租户隔离 · 审计日志 · 配置热更新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88336"/>
            <a:ext cx="731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688336"/>
            <a:ext cx="1463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88336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核心引擎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688336"/>
            <a:ext cx="8686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688336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Arial"/>
              </a:defRPr>
            </a:pPr>
            <a:r>
              <a:t>消息路由 · 插件管理 · 技能去重 · 定时任务 · 依赖解析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38144"/>
            <a:ext cx="73152" cy="64008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438144"/>
            <a:ext cx="1463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38144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LLM 网关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438144"/>
            <a:ext cx="8686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438144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Arial"/>
              </a:defRPr>
            </a:pPr>
            <a:r>
              <a:t>MiniMax M3（默认） · DeepSeek V4 Pro（降级） · Ollama（离线兜底）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87952"/>
            <a:ext cx="73152" cy="640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87952"/>
            <a:ext cx="1463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187952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业务插件层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187952"/>
            <a:ext cx="8686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4187952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Arial"/>
              </a:defRPr>
            </a:pPr>
            <a:r>
              <a:t>受信任插件（进程内） · 第三方插件（JSON-RPC 沙箱子进程）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37759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937759"/>
            <a:ext cx="1463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37759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数据抽象层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937759"/>
            <a:ext cx="86868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937759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Arial"/>
              </a:defRPr>
            </a:pPr>
            <a:r>
              <a:t>ORM (SQLAlchemy) · 缓存 · 文件存储 · 计量 / 许可管理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Arial"/>
              </a:defRPr>
            </a:pPr>
            <a:r>
              <a:t>⚡ EventBus（进程内 Pub/Sub → 多 Worker 降级 Redis Pub/Sub）贯穿全层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45720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"/>
              </a:defRPr>
            </a:pPr>
            <a:r>
              <a:t>五大核心能力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46304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  <a:latin typeface="Arial"/>
              </a:defRPr>
            </a:pPr>
            <a:r>
              <a:t>DataConnector</a:t>
            </a:r>
            <a:br/>
            <a:r>
              <a:t>数据连接器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6459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连接ERP/MES/WMS/CRM等现有系统</a:t>
            </a:r>
            <a:br/>
            <a:r>
              <a:t>SQL / API / 文件三种连接模式</a:t>
            </a:r>
            <a:br/>
            <a:r>
              <a:t>无需替换已有投资，数据打通零侵入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188720"/>
            <a:ext cx="20116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8600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  <a:latin typeface="Arial"/>
              </a:defRPr>
            </a:pPr>
            <a:r>
              <a:t>混合LLM</a:t>
            </a:r>
            <a:br/>
            <a:r>
              <a:t>网关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017520"/>
            <a:ext cx="16459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MiniMax M3（云端旗舰）</a:t>
            </a:r>
            <a:br/>
            <a:r>
              <a:t>DeepSeek V4 Pro（性价比降级）</a:t>
            </a:r>
            <a:br/>
            <a:r>
              <a:t>Ollama嵌入式（离线兜底）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188720"/>
            <a:ext cx="20116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0" y="146304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4630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8600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  <a:latin typeface="Arial"/>
              </a:defRPr>
            </a:pPr>
            <a:r>
              <a:t>统一IM</a:t>
            </a:r>
            <a:br/>
            <a:r>
              <a:t>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16459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钉钉/飞书/企微/H5多端一致体验</a:t>
            </a:r>
            <a:br/>
            <a:r>
              <a:t>员工零学习成本</a:t>
            </a:r>
            <a:br/>
            <a:r>
              <a:t>AI助手直接对话企业数据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1188720"/>
            <a:ext cx="20116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4630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4630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28600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  <a:latin typeface="Arial"/>
              </a:defRPr>
            </a:pPr>
            <a:r>
              <a:t>插件化</a:t>
            </a:r>
            <a:br/>
            <a:r>
              <a:t>业务市场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017520"/>
            <a:ext cx="16459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业务功能按需安装</a:t>
            </a:r>
            <a:br/>
            <a:r>
              <a:t>插件沙箱隔离，不伤核心</a:t>
            </a:r>
            <a:br/>
            <a:r>
              <a:t>可自研第三方插件上架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1188720"/>
            <a:ext cx="20116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9840" y="14630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4630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28600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293B"/>
                </a:solidFill>
                <a:latin typeface="Arial"/>
              </a:defRPr>
            </a:pPr>
            <a:r>
              <a:t>嵌入式</a:t>
            </a:r>
            <a:br/>
            <a:r>
              <a:t>本地LLM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017520"/>
            <a:ext cx="164592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10B级小模型随平台部署</a:t>
            </a:r>
            <a:br/>
            <a:r>
              <a:t>断网环境可用</a:t>
            </a:r>
            <a:br/>
            <a:r>
              <a:t>自我修复/故障排查/升级管理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核心能力详解：DataConnector 数据连接器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Arial"/>
              </a:defRPr>
            </a:pPr>
            <a:r>
              <a:t>不替换现有系统，AI直接“读懂”企业已有的数据资产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1E293B"/>
                </a:solidFill>
                <a:latin typeface="Arial"/>
              </a:defRPr>
            </a:pPr>
            <a:r>
              <a:t>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0D9488"/>
                </a:solidFill>
                <a:latin typeface="Arial"/>
              </a:defRPr>
            </a:pPr>
            <a:r>
              <a:t>SQL 直连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Arial"/>
              </a:defRPr>
            </a:pPr>
            <a:r>
              <a:t>直接连接 ERP/MES 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无需开发，配置即用</a:t>
            </a:r>
            <a:br/>
            <a:r>
              <a:t>支持 MySQL / PostgreSQL / SQL Server / Oracle</a:t>
            </a:r>
            <a:br/>
            <a:r>
              <a:t>只读连接，数据不出厂区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55448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1E293B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3B82F6"/>
                </a:solidFill>
                <a:latin typeface="Arial"/>
              </a:defRPr>
            </a:pPr>
            <a:r>
              <a:t>API 桥接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Arial"/>
              </a:defRPr>
            </a:pPr>
            <a:r>
              <a:t>通过标准 REST API 对接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适配各类业务系统开放接口</a:t>
            </a:r>
            <a:br/>
            <a:r>
              <a:t>支持定时拉取 / 事件推送</a:t>
            </a:r>
            <a:br/>
            <a:r>
              <a:t>兼容主流 SaaS 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55448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1E293B"/>
                </a:solidFill>
                <a:latin typeface="Arial"/>
              </a:defRPr>
            </a:pPr>
            <a:r>
              <a:t>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59E0B"/>
                </a:solidFill>
                <a:latin typeface="Arial"/>
              </a:defRPr>
            </a:pPr>
            <a:r>
              <a:t>文件导入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Arial"/>
              </a:defRPr>
            </a:pPr>
            <a:r>
              <a:t>CSV / Excel / PDF 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0040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Arial"/>
              </a:defRPr>
            </a:pPr>
            <a:r>
              <a:t>遗留系统无接口时的救星</a:t>
            </a:r>
            <a:br/>
            <a:r>
              <a:t>定时扫描指定目录自动处理</a:t>
            </a:r>
            <a:br/>
            <a:r>
              <a:t>支持 OCR 识别纸质单据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45720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"/>
              </a:defRPr>
            </a:pPr>
            <a:r>
              <a:t>制造应用场景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103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1E293B"/>
                </a:solidFill>
                <a:latin typeface="Arial"/>
              </a:defRPr>
            </a:pPr>
            <a:r>
              <a:t>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D9488"/>
                </a:solidFill>
                <a:latin typeface="Arial"/>
              </a:defRPr>
            </a:pPr>
            <a:r>
              <a:t>生产运营助手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82880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64748B"/>
                </a:solidFill>
                <a:latin typeface="Arial"/>
              </a:defRPr>
            </a:pPr>
            <a:r>
              <a:t>一线员工通过钉钉直接查询：</a:t>
            </a:r>
            <a:br/>
            <a:r>
              <a:t>· 当前产线OEE / 生产进度</a:t>
            </a:r>
            <a:br/>
            <a:r>
              <a:t>· 工艺参数 / 质检标准</a:t>
            </a:r>
            <a:br/>
            <a:r>
              <a:t>· 设备状态 / 异常预警</a:t>
            </a:r>
            <a:br/>
            <a:r>
              <a:t>管理层：每日生产简报AI自动生成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7752" y="118872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752" y="118872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137160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1E293B"/>
                </a:solidFill>
                <a:latin typeface="Arial"/>
              </a:defRPr>
            </a:pPr>
            <a: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18288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B82F6"/>
                </a:solidFill>
                <a:latin typeface="Arial"/>
              </a:defRPr>
            </a:pPr>
            <a:r>
              <a:t>质量管理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286000"/>
            <a:ext cx="182880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64748B"/>
                </a:solidFill>
                <a:latin typeface="Arial"/>
              </a:defRPr>
            </a:pPr>
            <a:r>
              <a:t>· 巡检记录AI自动分析趋势</a:t>
            </a:r>
            <a:br/>
            <a:r>
              <a:t>· 不良率异常 → 根因建议</a:t>
            </a:r>
            <a:br/>
            <a:r>
              <a:t>· 质量标准智能问答</a:t>
            </a:r>
            <a:br/>
            <a:r>
              <a:t>· 历史不良案例相似匹配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5464" y="118872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55464" y="1188720"/>
            <a:ext cx="2103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7160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1E293B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18288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8B5CF6"/>
                </a:solidFill>
                <a:latin typeface="Arial"/>
              </a:defRPr>
            </a:pPr>
            <a:r>
              <a:t>设备管理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2286000"/>
            <a:ext cx="182880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64748B"/>
                </a:solidFill>
                <a:latin typeface="Arial"/>
              </a:defRPr>
            </a:pPr>
            <a:r>
              <a:t>· 设备台账智能查询</a:t>
            </a:r>
            <a:br/>
            <a:r>
              <a:t>· 故障诊断：描述现象→维修建议</a:t>
            </a:r>
            <a:br/>
            <a:r>
              <a:t>· 备件库存AI预警</a:t>
            </a:r>
            <a:br/>
            <a:r>
              <a:t>· 维保计划自动排程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3176" y="118872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23176" y="118872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3176" y="137160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1E293B"/>
                </a:solidFill>
                <a:latin typeface="Arial"/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18288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供应链协同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2286000"/>
            <a:ext cx="182880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64748B"/>
                </a:solidFill>
                <a:latin typeface="Arial"/>
              </a:defRPr>
            </a:pPr>
            <a:r>
              <a:t>· 供应商交期异常提前预警</a:t>
            </a:r>
            <a:br/>
            <a:r>
              <a:t>· 库存安全水位AI建议</a:t>
            </a:r>
            <a:br/>
            <a:r>
              <a:t>· 物流在途状态自动追踪</a:t>
            </a:r>
            <a:br/>
            <a:r>
              <a:t>· 来料检验报告解读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90888" y="1188720"/>
            <a:ext cx="2103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90888" y="1188720"/>
            <a:ext cx="2103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137160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1E293B"/>
                </a:solidFill>
                <a:latin typeface="Arial"/>
              </a:defRPr>
            </a:pPr>
            <a:r>
              <a:t>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18288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EF4444"/>
                </a:solidFill>
                <a:latin typeface="Arial"/>
              </a:defRPr>
            </a:pPr>
            <a:r>
              <a:t>ESG 合规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2286000"/>
            <a:ext cx="1828800" cy="3291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64748B"/>
                </a:solidFill>
                <a:latin typeface="Arial"/>
              </a:defRPr>
            </a:pPr>
            <a:r>
              <a:t>· 碳排数据自动采集与核算</a:t>
            </a:r>
            <a:br/>
            <a:r>
              <a:t>· ESG报告半自动生成</a:t>
            </a:r>
            <a:br/>
            <a:r>
              <a:t>· 出口合规：供应链碳足迹</a:t>
            </a:r>
            <a:br/>
            <a:r>
              <a:t>· 监管政策更新自动解读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457200" cy="320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4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E293B"/>
                </a:solidFill>
                <a:latin typeface="Arial"/>
              </a:defRPr>
            </a:pPr>
            <a:r>
              <a:t>渠道合作与部署方案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双模部署方案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Standalone 入门版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SQLite + Python 3.11</a:t>
            </a:r>
            <a:br/>
            <a:r>
              <a:t>单机部署，零 Docker 依赖</a:t>
            </a:r>
            <a:br/>
            <a:r>
              <a:t>适合：小企业验证 / 渠道演示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74720"/>
            <a:ext cx="73152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Cloud 生产版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PostgreSQL + Caddy + Docker Compose</a:t>
            </a:r>
            <a:br/>
            <a:r>
              <a:t>正式生产环境，支持多租户</a:t>
            </a:r>
            <a:br/>
            <a:r>
              <a:t>适合：SME 正式上线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5488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离线一体机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7492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含嵌入式 LLM 的整机方案</a:t>
            </a:r>
            <a:br/>
            <a:r>
              <a:t>断网可用，数据不出厂</a:t>
            </a:r>
            <a:br/>
            <a:r>
              <a:t>适合：数据安全要求高的客户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渠道合作模式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224028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2194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区域代理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5146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Arial"/>
              </a:defRPr>
            </a:pPr>
            <a:r>
              <a:t>授权在指定区域销售</a:t>
            </a:r>
            <a:br/>
            <a:r>
              <a:t>提供技术培训+售前支持</a:t>
            </a:r>
            <a:br/>
            <a:r>
              <a:t>项目交付可选由我方实施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33756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2918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项目合作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6118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Arial"/>
              </a:defRPr>
            </a:pPr>
            <a:r>
              <a:t>已有客户项目需要AI能力</a:t>
            </a:r>
            <a:br/>
            <a:r>
              <a:t>DDW作为底座嵌入</a:t>
            </a:r>
            <a:br/>
            <a:r>
              <a:t>按项目分成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43484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3891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OEM 定制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0916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Arial"/>
              </a:defRPr>
            </a:pPr>
            <a:r>
              <a:t>将DDW以自有品牌交付</a:t>
            </a:r>
            <a:br/>
            <a:r>
              <a:t>提供白标+定制开发</a:t>
            </a:r>
            <a:br/>
            <a:r>
              <a:t>适合有实施团队的合作方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5532119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5486399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9488"/>
                </a:solidFill>
                <a:latin typeface="Arial"/>
              </a:defRPr>
            </a:pPr>
            <a:r>
              <a:t>转介绍返佣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806439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BD5E1"/>
                </a:solidFill>
                <a:latin typeface="Arial"/>
              </a:defRPr>
            </a:pPr>
            <a:r>
              <a:t>推荐客户线索</a:t>
            </a:r>
            <a:br/>
            <a:r>
              <a:t>成交后按合同额返佣</a:t>
            </a:r>
            <a:br/>
            <a:r>
              <a:t>无需任何前期投入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一个人就是一支团队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0D9488"/>
                </a:solidFill>
                <a:latin typeface="Arial"/>
              </a:defRPr>
            </a:pPr>
            <a:r>
              <a:t>DDW AI Hub — 让每个制造企业都能拥有自己的AI团队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联系我们 · 获取演示环境 · 合作洽谈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Arial"/>
              </a:defRPr>
            </a:pPr>
            <a:r>
              <a:t>www.ddw-ai.com  ·  partner@ddw-ai.com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